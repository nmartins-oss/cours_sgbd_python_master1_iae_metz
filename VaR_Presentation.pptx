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 afternoon everyone. My name is [your name] and today I will present my Python project on Value at Risk analysis. The goal was to measure the daily market risk of a US equity portfolio using three different statistical methods. Let me walk you through each step.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objective of this project is to measure risk quantitatively. Value at Risk answers a simple question: 'What is the worst loss I can expect on a typical bad day?' We chose a 95% confidence level, which is the industry standard. This means that on 95 out of 100 days, the actual loss should be smaller than our VaR estimate. The key contribution of this project is comparing three different methods to see if they agree.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downloaded five years of daily price data from Yahoo Finance using the yfinance library in Python. The portfolio is equally weighted across five stocks from different sectors: technology, financials, healthcare, energy, and consumer staples. This diversification is intentional — it reflects a realistic retail investor portfolio. The chart on the right shows how each stock performed over the period, normalised to 100 at the start.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computed VaR using three methods. The Historical method simply looks at what happened in the past — if we sort all daily returns and find the 5th percentile, that is our VaR. No assumptions needed. The Parametric method assumes returns are normally distributed and uses the well-known formula with mean, standard deviation, and the z-score of 1.645 for 95% confidence. Finally, Monte Carlo simulates thousands of possible futures based on the historical statistics and picks the worst 5%. It is the most powerful method but requires more computation.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shows the daily return of our equally weighted portfolio over the five-year period. You can see that most daily moves are small — between minus two and plus two percent. However, in early 2020, when COVID-19 hit the markets, we see very large swings. This kind of volatility clustering — calm periods followed by turbulent ones — is a well-known feature of financial data. It is one reason why measuring risk is important and non-trivial.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histogram shows all the daily returns of the portfolio. The red dashed vertical line represents our Historical VaR: approximately minus 1.65%. Everything to the left of that line is in the worst 5% of days. Notice that the distribution has a slightly heavier left tail than a perfect normal distribution would. This is why the Parametric VaR, which assumes normality, gives a slightly different result than the historical approach.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final results. The Historical method gives a VaR of minus 1.65%, the Parametric gives minus 1.87%, and the Monte Carlo gives minus 1.86%. In practical terms, this means that on any given day, we can say with 95% confidence that the portfolio will not lose more than about 1.7 to 1.9 percent of its value. The fact that all three methods give similar results is reassuring — it means our estimate is stable and not highly sensitive to the method chosen. The small difference between Historical and the other two comes from the slight non-normality of the actual return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project achieved its goal: we successfully measured and compared the daily VaR of a diversified US equity portfolio using three methods in Python. The results are consistent across methods, which gives us confidence in the estimate. However, VaR has well-known limitations. Most importantly, it does not tell us what the loss will be on the 5% of bad days — it only tells us the threshold. A natural extension would be Expected Shortfall, also called CVaR, which measures the average loss in the worst cases. I am happy to take any questions.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3B6E"/>
        </a:solidFill>
        <a:effectLst/>
      </p:bgPr>
    </p:bg>
    <p:spTree>
      <p:nvGrpSpPr>
        <p:cNvPr id="1" name=""/>
        <p:cNvGrpSpPr/>
        <p:nvPr/>
      </p:nvGrpSpPr>
      <p:grpSpPr/>
      <p:sp>
        <p:nvSpPr>
          <p:cNvPr id="2" name="Rectangle 1"/>
          <p:cNvSpPr/>
          <p:nvPr/>
        </p:nvSpPr>
        <p:spPr>
          <a:xfrm>
            <a:off x="0" y="2743200"/>
            <a:ext cx="12188952" cy="731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1097280"/>
          </a:xfrm>
          <a:prstGeom prst="rect">
            <a:avLst/>
          </a:prstGeom>
          <a:noFill/>
        </p:spPr>
        <p:txBody>
          <a:bodyPr wrap="square">
            <a:spAutoFit/>
          </a:bodyPr>
          <a:lstStyle/>
          <a:p>
            <a:pPr algn="ctr"/>
            <a:r>
              <a:rPr sz="4000" b="1">
                <a:solidFill>
                  <a:srgbClr val="FFFFFF"/>
                </a:solidFill>
              </a:rPr>
              <a:t>Value at Risk (VaR) Analysis</a:t>
            </a:r>
          </a:p>
        </p:txBody>
      </p:sp>
      <p:sp>
        <p:nvSpPr>
          <p:cNvPr id="4" name="TextBox 3"/>
          <p:cNvSpPr txBox="1"/>
          <p:nvPr/>
        </p:nvSpPr>
        <p:spPr>
          <a:xfrm>
            <a:off x="914400" y="2468880"/>
            <a:ext cx="10058400" cy="640080"/>
          </a:xfrm>
          <a:prstGeom prst="rect">
            <a:avLst/>
          </a:prstGeom>
          <a:noFill/>
        </p:spPr>
        <p:txBody>
          <a:bodyPr wrap="square">
            <a:spAutoFit/>
          </a:bodyPr>
          <a:lstStyle/>
          <a:p>
            <a:pPr algn="ctr"/>
            <a:r>
              <a:rPr sz="2000" b="0">
                <a:solidFill>
                  <a:srgbClr val="BDD7EE"/>
                </a:solidFill>
              </a:rPr>
              <a:t>A Comparative Study: Historical, Parametric, and Monte Carlo Methods</a:t>
            </a:r>
          </a:p>
        </p:txBody>
      </p:sp>
      <p:sp>
        <p:nvSpPr>
          <p:cNvPr id="5" name="TextBox 4"/>
          <p:cNvSpPr txBox="1"/>
          <p:nvPr/>
        </p:nvSpPr>
        <p:spPr>
          <a:xfrm>
            <a:off x="914400" y="3154680"/>
            <a:ext cx="10058400" cy="457200"/>
          </a:xfrm>
          <a:prstGeom prst="rect">
            <a:avLst/>
          </a:prstGeom>
          <a:noFill/>
        </p:spPr>
        <p:txBody>
          <a:bodyPr wrap="square">
            <a:spAutoFit/>
          </a:bodyPr>
          <a:lstStyle/>
          <a:p>
            <a:pPr algn="ctr"/>
            <a:r>
              <a:rPr sz="1600" b="0">
                <a:solidFill>
                  <a:srgbClr val="BDD7EE"/>
                </a:solidFill>
              </a:rPr>
              <a:t>US Equity Portfolio  •  AAPL · JPM · JNJ · XOM · WMT</a:t>
            </a:r>
          </a:p>
        </p:txBody>
      </p:sp>
      <p:sp>
        <p:nvSpPr>
          <p:cNvPr id="6" name="TextBox 5"/>
          <p:cNvSpPr txBox="1"/>
          <p:nvPr/>
        </p:nvSpPr>
        <p:spPr>
          <a:xfrm>
            <a:off x="914400" y="5303520"/>
            <a:ext cx="10058400" cy="457200"/>
          </a:xfrm>
          <a:prstGeom prst="rect">
            <a:avLst/>
          </a:prstGeom>
          <a:noFill/>
        </p:spPr>
        <p:txBody>
          <a:bodyPr wrap="square">
            <a:spAutoFit/>
          </a:bodyPr>
          <a:lstStyle/>
          <a:p>
            <a:pPr algn="ctr"/>
            <a:r>
              <a:rPr sz="1400" b="0">
                <a:solidFill>
                  <a:srgbClr val="9DB2D8"/>
                </a:solidFill>
              </a:rPr>
              <a:t>Master 1 Finance  |  IAE Metz  |  April 10,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731520"/>
          </a:xfrm>
          <a:prstGeom prst="rect">
            <a:avLst/>
          </a:prstGeom>
          <a:noFill/>
        </p:spPr>
        <p:txBody>
          <a:bodyPr wrap="square">
            <a:spAutoFit/>
          </a:bodyPr>
          <a:lstStyle/>
          <a:p>
            <a:pPr algn="l"/>
            <a:r>
              <a:rPr sz="2800" b="1">
                <a:solidFill>
                  <a:srgbClr val="FFFFFF"/>
                </a:solidFill>
              </a:rPr>
              <a:t>Project Objective</a:t>
            </a:r>
          </a:p>
        </p:txBody>
      </p:sp>
      <p:sp>
        <p:nvSpPr>
          <p:cNvPr id="4" name="TextBox 3"/>
          <p:cNvSpPr txBox="1"/>
          <p:nvPr/>
        </p:nvSpPr>
        <p:spPr>
          <a:xfrm>
            <a:off x="365760" y="777240"/>
            <a:ext cx="11430000" cy="365760"/>
          </a:xfrm>
          <a:prstGeom prst="rect">
            <a:avLst/>
          </a:prstGeom>
          <a:noFill/>
        </p:spPr>
        <p:txBody>
          <a:bodyPr wrap="square">
            <a:spAutoFit/>
          </a:bodyPr>
          <a:lstStyle/>
          <a:p>
            <a:pPr algn="l"/>
            <a:r>
              <a:rPr sz="1400" b="0">
                <a:solidFill>
                  <a:srgbClr val="BDD7EE"/>
                </a:solidFill>
              </a:rPr>
              <a:t>Why measure risk?</a:t>
            </a:r>
          </a:p>
        </p:txBody>
      </p:sp>
      <p:sp>
        <p:nvSpPr>
          <p:cNvPr id="5" name="Rectangle 4"/>
          <p:cNvSpPr/>
          <p:nvPr/>
        </p:nvSpPr>
        <p:spPr>
          <a:xfrm>
            <a:off x="0" y="6492240"/>
            <a:ext cx="12188952" cy="365760"/>
          </a:xfrm>
          <a:prstGeom prst="rect">
            <a:avLst/>
          </a:prstGeom>
          <a:solidFill>
            <a:srgbClr val="1F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510528"/>
            <a:ext cx="11612880" cy="274320"/>
          </a:xfrm>
          <a:prstGeom prst="rect">
            <a:avLst/>
          </a:prstGeom>
          <a:noFill/>
        </p:spPr>
        <p:txBody>
          <a:bodyPr wrap="square">
            <a:spAutoFit/>
          </a:bodyPr>
          <a:lstStyle/>
          <a:p>
            <a:pPr algn="ctr"/>
            <a:r>
              <a:rPr sz="1000" b="0">
                <a:solidFill>
                  <a:srgbClr val="FFFFFF"/>
                </a:solidFill>
              </a:rPr>
              <a:t>Master 1 Finance | IAE Metz | 2026</a:t>
            </a:r>
          </a:p>
        </p:txBody>
      </p:sp>
      <p:sp>
        <p:nvSpPr>
          <p:cNvPr id="7" name="TextBox 6"/>
          <p:cNvSpPr txBox="1"/>
          <p:nvPr/>
        </p:nvSpPr>
        <p:spPr>
          <a:xfrm>
            <a:off x="457200" y="1280160"/>
            <a:ext cx="11247120" cy="4846320"/>
          </a:xfrm>
          <a:prstGeom prst="rect">
            <a:avLst/>
          </a:prstGeom>
          <a:noFill/>
        </p:spPr>
        <p:txBody>
          <a:bodyPr wrap="square">
            <a:spAutoFit/>
          </a:bodyPr>
          <a:lstStyle/>
          <a:p>
            <a:pPr>
              <a:spcAft>
                <a:spcPts val="600"/>
              </a:spcAft>
            </a:pPr>
            <a:r>
              <a:rPr sz="1800">
                <a:solidFill>
                  <a:srgbClr val="1A1A1A"/>
                </a:solidFill>
              </a:rPr>
              <a:t>▸  Estimate the maximum expected loss of a portfolio over one trading day</a:t>
            </a:r>
          </a:p>
          <a:p>
            <a:pPr>
              <a:spcAft>
                <a:spcPts val="600"/>
              </a:spcAft>
            </a:pPr>
            <a:r>
              <a:rPr sz="1800">
                <a:solidFill>
                  <a:srgbClr val="1A1A1A"/>
                </a:solidFill>
              </a:rPr>
              <a:t>▸  Confidence level: 95%  →  we accept a 5% probability of exceeding the VaR</a:t>
            </a:r>
          </a:p>
          <a:p>
            <a:pPr>
              <a:spcAft>
                <a:spcPts val="600"/>
              </a:spcAft>
            </a:pPr>
            <a:r>
              <a:rPr sz="1800">
                <a:solidFill>
                  <a:srgbClr val="1A1A1A"/>
                </a:solidFill>
              </a:rPr>
              <a:t>▸  Compare three standard VaR methods: Historical, Parametric, Monte Carlo</a:t>
            </a:r>
          </a:p>
          <a:p>
            <a:pPr>
              <a:spcAft>
                <a:spcPts val="600"/>
              </a:spcAft>
            </a:pPr>
            <a:r>
              <a:rPr sz="1800">
                <a:solidFill>
                  <a:srgbClr val="1A1A1A"/>
                </a:solidFill>
              </a:rPr>
              <a:t>▸  Implement the entire workflow in Python (data download → calculation → charts)</a:t>
            </a:r>
          </a:p>
          <a:p>
            <a:pPr>
              <a:spcAft>
                <a:spcPts val="600"/>
              </a:spcAft>
            </a:pPr>
            <a:r>
              <a:rPr sz="1800">
                <a:solidFill>
                  <a:srgbClr val="1A1A1A"/>
                </a:solidFill>
              </a:rPr>
              <a:t>▸  Provide actionable risk insight for a real equity portfolio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731520"/>
          </a:xfrm>
          <a:prstGeom prst="rect">
            <a:avLst/>
          </a:prstGeom>
          <a:noFill/>
        </p:spPr>
        <p:txBody>
          <a:bodyPr wrap="square">
            <a:spAutoFit/>
          </a:bodyPr>
          <a:lstStyle/>
          <a:p>
            <a:pPr algn="l"/>
            <a:r>
              <a:rPr sz="2800" b="1">
                <a:solidFill>
                  <a:srgbClr val="FFFFFF"/>
                </a:solidFill>
              </a:rPr>
              <a:t>Data &amp; Portfolio Construction</a:t>
            </a:r>
          </a:p>
        </p:txBody>
      </p:sp>
      <p:sp>
        <p:nvSpPr>
          <p:cNvPr id="4" name="Rectangle 3"/>
          <p:cNvSpPr/>
          <p:nvPr/>
        </p:nvSpPr>
        <p:spPr>
          <a:xfrm>
            <a:off x="0" y="6492240"/>
            <a:ext cx="12188952" cy="365760"/>
          </a:xfrm>
          <a:prstGeom prst="rect">
            <a:avLst/>
          </a:prstGeom>
          <a:solidFill>
            <a:srgbClr val="1F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10528"/>
            <a:ext cx="11612880" cy="274320"/>
          </a:xfrm>
          <a:prstGeom prst="rect">
            <a:avLst/>
          </a:prstGeom>
          <a:noFill/>
        </p:spPr>
        <p:txBody>
          <a:bodyPr wrap="square">
            <a:spAutoFit/>
          </a:bodyPr>
          <a:lstStyle/>
          <a:p>
            <a:pPr algn="ctr"/>
            <a:r>
              <a:rPr sz="1000" b="0">
                <a:solidFill>
                  <a:srgbClr val="FFFFFF"/>
                </a:solidFill>
              </a:rPr>
              <a:t>Master 1 Finance | IAE Metz | 2026</a:t>
            </a:r>
          </a:p>
        </p:txBody>
      </p:sp>
      <p:sp>
        <p:nvSpPr>
          <p:cNvPr id="6" name="TextBox 5"/>
          <p:cNvSpPr txBox="1"/>
          <p:nvPr/>
        </p:nvSpPr>
        <p:spPr>
          <a:xfrm>
            <a:off x="457200" y="1234440"/>
            <a:ext cx="6217920" cy="5029200"/>
          </a:xfrm>
          <a:prstGeom prst="rect">
            <a:avLst/>
          </a:prstGeom>
          <a:noFill/>
        </p:spPr>
        <p:txBody>
          <a:bodyPr wrap="square">
            <a:spAutoFit/>
          </a:bodyPr>
          <a:lstStyle/>
          <a:p>
            <a:pPr>
              <a:spcAft>
                <a:spcPts val="600"/>
              </a:spcAft>
            </a:pPr>
            <a:r>
              <a:rPr sz="1500">
                <a:solidFill>
                  <a:srgbClr val="1A1A1A"/>
                </a:solidFill>
              </a:rPr>
              <a:t>▸  Data source: Yahoo Finance via the yfinance Python library</a:t>
            </a:r>
          </a:p>
          <a:p>
            <a:pPr>
              <a:spcAft>
                <a:spcPts val="600"/>
              </a:spcAft>
            </a:pPr>
            <a:r>
              <a:rPr sz="1500">
                <a:solidFill>
                  <a:srgbClr val="1A1A1A"/>
                </a:solidFill>
              </a:rPr>
              <a:t>▸  Period: January 2019 – December 2024  (≈ 1,500 daily observations)</a:t>
            </a:r>
          </a:p>
          <a:p>
            <a:pPr>
              <a:spcAft>
                <a:spcPts val="600"/>
              </a:spcAft>
            </a:pPr>
            <a:r>
              <a:rPr sz="1500">
                <a:solidFill>
                  <a:srgbClr val="1A1A1A"/>
                </a:solidFill>
              </a:rPr>
              <a:t>▸  Prices: Adjusted daily closing prices</a:t>
            </a:r>
          </a:p>
          <a:p>
            <a:pPr>
              <a:spcAft>
                <a:spcPts val="600"/>
              </a:spcAft>
            </a:pPr>
            <a:r>
              <a:rPr sz="1500">
                <a:solidFill>
                  <a:srgbClr val="1A1A1A"/>
                </a:solidFill>
              </a:rPr>
              <a:t>▸  5 stocks — equally weighted (20% each):</a:t>
            </a:r>
          </a:p>
          <a:p>
            <a:pPr>
              <a:spcAft>
                <a:spcPts val="600"/>
              </a:spcAft>
            </a:pPr>
            <a:r>
              <a:rPr sz="1500">
                <a:solidFill>
                  <a:srgbClr val="1A1A1A"/>
                </a:solidFill>
              </a:rPr>
              <a:t>▸       AAPL  — Technology (Apple)</a:t>
            </a:r>
          </a:p>
          <a:p>
            <a:pPr>
              <a:spcAft>
                <a:spcPts val="600"/>
              </a:spcAft>
            </a:pPr>
            <a:r>
              <a:rPr sz="1500">
                <a:solidFill>
                  <a:srgbClr val="1A1A1A"/>
                </a:solidFill>
              </a:rPr>
              <a:t>▸       JPM   — Financials (JPMorgan Chase)</a:t>
            </a:r>
          </a:p>
          <a:p>
            <a:pPr>
              <a:spcAft>
                <a:spcPts val="600"/>
              </a:spcAft>
            </a:pPr>
            <a:r>
              <a:rPr sz="1500">
                <a:solidFill>
                  <a:srgbClr val="1A1A1A"/>
                </a:solidFill>
              </a:rPr>
              <a:t>▸       JNJ   — Healthcare (Johnson &amp; Johnson)</a:t>
            </a:r>
          </a:p>
          <a:p>
            <a:pPr>
              <a:spcAft>
                <a:spcPts val="600"/>
              </a:spcAft>
            </a:pPr>
            <a:r>
              <a:rPr sz="1500">
                <a:solidFill>
                  <a:srgbClr val="1A1A1A"/>
                </a:solidFill>
              </a:rPr>
              <a:t>▸       XOM   — Energy (ExxonMobil)</a:t>
            </a:r>
          </a:p>
          <a:p>
            <a:pPr>
              <a:spcAft>
                <a:spcPts val="600"/>
              </a:spcAft>
            </a:pPr>
            <a:r>
              <a:rPr sz="1500">
                <a:solidFill>
                  <a:srgbClr val="1A1A1A"/>
                </a:solidFill>
              </a:rPr>
              <a:t>▸       WMT   — Consumer staples (Walmart)</a:t>
            </a:r>
          </a:p>
          <a:p>
            <a:pPr>
              <a:spcAft>
                <a:spcPts val="600"/>
              </a:spcAft>
            </a:pPr>
            <a:r>
              <a:rPr sz="1500">
                <a:solidFill>
                  <a:srgbClr val="1A1A1A"/>
                </a:solidFill>
              </a:rPr>
              <a:t>▸  Equal weighting ensures sector diversification</a:t>
            </a:r>
          </a:p>
        </p:txBody>
      </p:sp>
      <p:pic>
        <p:nvPicPr>
          <p:cNvPr id="7" name="Picture 6" descr="chart_01_prices.png"/>
          <p:cNvPicPr>
            <a:picLocks noChangeAspect="1"/>
          </p:cNvPicPr>
          <p:nvPr/>
        </p:nvPicPr>
        <p:blipFill>
          <a:blip r:embed="rId2"/>
          <a:stretch>
            <a:fillRect/>
          </a:stretch>
        </p:blipFill>
        <p:spPr>
          <a:xfrm>
            <a:off x="6858000" y="1188720"/>
            <a:ext cx="5029200" cy="3657600"/>
          </a:xfrm>
          <a:prstGeom prst="rect">
            <a:avLst/>
          </a:prstGeom>
        </p:spPr>
      </p:pic>
      <p:sp>
        <p:nvSpPr>
          <p:cNvPr id="8" name="TextBox 7"/>
          <p:cNvSpPr txBox="1"/>
          <p:nvPr/>
        </p:nvSpPr>
        <p:spPr>
          <a:xfrm>
            <a:off x="6858000" y="4892040"/>
            <a:ext cx="5029200" cy="365760"/>
          </a:xfrm>
          <a:prstGeom prst="rect">
            <a:avLst/>
          </a:prstGeom>
          <a:noFill/>
        </p:spPr>
        <p:txBody>
          <a:bodyPr wrap="square">
            <a:spAutoFit/>
          </a:bodyPr>
          <a:lstStyle/>
          <a:p>
            <a:pPr algn="ctr"/>
            <a:r>
              <a:rPr sz="1000" b="0">
                <a:solidFill>
                  <a:srgbClr val="707070"/>
                </a:solidFill>
              </a:rPr>
              <a:t>Fig. 1 — Normalised stock prices (2019–2024)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731520"/>
          </a:xfrm>
          <a:prstGeom prst="rect">
            <a:avLst/>
          </a:prstGeom>
          <a:noFill/>
        </p:spPr>
        <p:txBody>
          <a:bodyPr wrap="square">
            <a:spAutoFit/>
          </a:bodyPr>
          <a:lstStyle/>
          <a:p>
            <a:pPr algn="l"/>
            <a:r>
              <a:rPr sz="2800" b="1">
                <a:solidFill>
                  <a:srgbClr val="FFFFFF"/>
                </a:solidFill>
              </a:rPr>
              <a:t>Methodology — Three Ways to Compute VaR</a:t>
            </a:r>
          </a:p>
        </p:txBody>
      </p:sp>
      <p:sp>
        <p:nvSpPr>
          <p:cNvPr id="4" name="Rectangle 3"/>
          <p:cNvSpPr/>
          <p:nvPr/>
        </p:nvSpPr>
        <p:spPr>
          <a:xfrm>
            <a:off x="0" y="6492240"/>
            <a:ext cx="12188952" cy="365760"/>
          </a:xfrm>
          <a:prstGeom prst="rect">
            <a:avLst/>
          </a:prstGeom>
          <a:solidFill>
            <a:srgbClr val="1F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10528"/>
            <a:ext cx="11612880" cy="274320"/>
          </a:xfrm>
          <a:prstGeom prst="rect">
            <a:avLst/>
          </a:prstGeom>
          <a:noFill/>
        </p:spPr>
        <p:txBody>
          <a:bodyPr wrap="square">
            <a:spAutoFit/>
          </a:bodyPr>
          <a:lstStyle/>
          <a:p>
            <a:pPr algn="ctr"/>
            <a:r>
              <a:rPr sz="1000" b="0">
                <a:solidFill>
                  <a:srgbClr val="FFFFFF"/>
                </a:solidFill>
              </a:rPr>
              <a:t>Master 1 Finance | IAE Metz | 2026</a:t>
            </a:r>
          </a:p>
        </p:txBody>
      </p:sp>
      <p:sp>
        <p:nvSpPr>
          <p:cNvPr id="6" name="Rectangle 5"/>
          <p:cNvSpPr/>
          <p:nvPr/>
        </p:nvSpPr>
        <p:spPr>
          <a:xfrm>
            <a:off x="274320" y="1280160"/>
            <a:ext cx="3566160" cy="64008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371600"/>
            <a:ext cx="3383279" cy="502920"/>
          </a:xfrm>
          <a:prstGeom prst="rect">
            <a:avLst/>
          </a:prstGeom>
          <a:noFill/>
        </p:spPr>
        <p:txBody>
          <a:bodyPr wrap="square">
            <a:spAutoFit/>
          </a:bodyPr>
          <a:lstStyle/>
          <a:p>
            <a:pPr algn="ctr"/>
            <a:r>
              <a:rPr sz="1600" b="1">
                <a:solidFill>
                  <a:srgbClr val="FFFFFF"/>
                </a:solidFill>
              </a:rPr>
              <a:t>Historical VaR</a:t>
            </a:r>
          </a:p>
        </p:txBody>
      </p:sp>
      <p:sp>
        <p:nvSpPr>
          <p:cNvPr id="8" name="TextBox 7"/>
          <p:cNvSpPr txBox="1"/>
          <p:nvPr/>
        </p:nvSpPr>
        <p:spPr>
          <a:xfrm>
            <a:off x="365760" y="2011680"/>
            <a:ext cx="3383279" cy="3931920"/>
          </a:xfrm>
          <a:prstGeom prst="rect">
            <a:avLst/>
          </a:prstGeom>
          <a:noFill/>
        </p:spPr>
        <p:txBody>
          <a:bodyPr wrap="square">
            <a:spAutoFit/>
          </a:bodyPr>
          <a:lstStyle/>
          <a:p>
            <a:pPr>
              <a:spcAft>
                <a:spcPts val="600"/>
              </a:spcAft>
            </a:pPr>
            <a:r>
              <a:rPr sz="1400">
                <a:solidFill>
                  <a:srgbClr val="1A1A1A"/>
                </a:solidFill>
              </a:rPr>
              <a:t>▸  Uses actual past returns</a:t>
            </a:r>
          </a:p>
          <a:p>
            <a:pPr>
              <a:spcAft>
                <a:spcPts val="600"/>
              </a:spcAft>
            </a:pPr>
            <a:r>
              <a:rPr sz="1400">
                <a:solidFill>
                  <a:srgbClr val="1A1A1A"/>
                </a:solidFill>
              </a:rPr>
              <a:t>▸  No assumptions on distribution</a:t>
            </a:r>
          </a:p>
          <a:p>
            <a:pPr>
              <a:spcAft>
                <a:spcPts val="600"/>
              </a:spcAft>
            </a:pPr>
            <a:r>
              <a:rPr sz="1400">
                <a:solidFill>
                  <a:srgbClr val="1A1A1A"/>
                </a:solidFill>
              </a:rPr>
              <a:t>▸  Take the 5th percentile of observed returns</a:t>
            </a:r>
          </a:p>
          <a:p>
            <a:pPr>
              <a:spcAft>
                <a:spcPts val="600"/>
              </a:spcAft>
            </a:pPr>
            <a:r>
              <a:rPr sz="1400">
                <a:solidFill>
                  <a:srgbClr val="1A1A1A"/>
                </a:solidFill>
              </a:rPr>
              <a:t>▸  Simple but backward-looking</a:t>
            </a:r>
          </a:p>
        </p:txBody>
      </p:sp>
      <p:sp>
        <p:nvSpPr>
          <p:cNvPr id="9" name="Rectangle 8"/>
          <p:cNvSpPr/>
          <p:nvPr/>
        </p:nvSpPr>
        <p:spPr>
          <a:xfrm>
            <a:off x="4023360" y="1280160"/>
            <a:ext cx="3566160" cy="640080"/>
          </a:xfrm>
          <a:prstGeom prst="rect">
            <a:avLst/>
          </a:prstGeom>
          <a:solidFill>
            <a:srgbClr val="7055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0" y="1371600"/>
            <a:ext cx="3383279" cy="502920"/>
          </a:xfrm>
          <a:prstGeom prst="rect">
            <a:avLst/>
          </a:prstGeom>
          <a:noFill/>
        </p:spPr>
        <p:txBody>
          <a:bodyPr wrap="square">
            <a:spAutoFit/>
          </a:bodyPr>
          <a:lstStyle/>
          <a:p>
            <a:pPr algn="ctr"/>
            <a:r>
              <a:rPr sz="1600" b="1">
                <a:solidFill>
                  <a:srgbClr val="FFFFFF"/>
                </a:solidFill>
              </a:rPr>
              <a:t>Parametric VaR</a:t>
            </a:r>
          </a:p>
        </p:txBody>
      </p:sp>
      <p:sp>
        <p:nvSpPr>
          <p:cNvPr id="11" name="TextBox 10"/>
          <p:cNvSpPr txBox="1"/>
          <p:nvPr/>
        </p:nvSpPr>
        <p:spPr>
          <a:xfrm>
            <a:off x="4114800" y="2011680"/>
            <a:ext cx="3383279" cy="3931920"/>
          </a:xfrm>
          <a:prstGeom prst="rect">
            <a:avLst/>
          </a:prstGeom>
          <a:noFill/>
        </p:spPr>
        <p:txBody>
          <a:bodyPr wrap="square">
            <a:spAutoFit/>
          </a:bodyPr>
          <a:lstStyle/>
          <a:p>
            <a:pPr>
              <a:spcAft>
                <a:spcPts val="600"/>
              </a:spcAft>
            </a:pPr>
            <a:r>
              <a:rPr sz="1400">
                <a:solidFill>
                  <a:srgbClr val="1A1A1A"/>
                </a:solidFill>
              </a:rPr>
              <a:t>▸  Assumes returns follow a Normal distribution</a:t>
            </a:r>
          </a:p>
          <a:p>
            <a:pPr>
              <a:spcAft>
                <a:spcPts val="600"/>
              </a:spcAft>
            </a:pPr>
            <a:r>
              <a:rPr sz="1400">
                <a:solidFill>
                  <a:srgbClr val="1A1A1A"/>
                </a:solidFill>
              </a:rPr>
              <a:t>▸  Uses mean and standard deviation</a:t>
            </a:r>
          </a:p>
          <a:p>
            <a:pPr>
              <a:spcAft>
                <a:spcPts val="600"/>
              </a:spcAft>
            </a:pPr>
            <a:r>
              <a:rPr sz="1400">
                <a:solidFill>
                  <a:srgbClr val="1A1A1A"/>
                </a:solidFill>
              </a:rPr>
              <a:t>▸  Applies the z-score: 1.645 at 95%</a:t>
            </a:r>
          </a:p>
          <a:p>
            <a:pPr>
              <a:spcAft>
                <a:spcPts val="600"/>
              </a:spcAft>
            </a:pPr>
            <a:r>
              <a:rPr sz="1400">
                <a:solidFill>
                  <a:srgbClr val="1A1A1A"/>
                </a:solidFill>
              </a:rPr>
              <a:t>▸  Fast — but sensitive to the normality assumption</a:t>
            </a:r>
          </a:p>
        </p:txBody>
      </p:sp>
      <p:sp>
        <p:nvSpPr>
          <p:cNvPr id="12" name="Rectangle 11"/>
          <p:cNvSpPr/>
          <p:nvPr/>
        </p:nvSpPr>
        <p:spPr>
          <a:xfrm>
            <a:off x="7772400" y="1280160"/>
            <a:ext cx="3566160" cy="640080"/>
          </a:xfrm>
          <a:prstGeom prst="rect">
            <a:avLst/>
          </a:prstGeom>
          <a:solidFill>
            <a:srgbClr val="2E86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1371600"/>
            <a:ext cx="3383279" cy="502920"/>
          </a:xfrm>
          <a:prstGeom prst="rect">
            <a:avLst/>
          </a:prstGeom>
          <a:noFill/>
        </p:spPr>
        <p:txBody>
          <a:bodyPr wrap="square">
            <a:spAutoFit/>
          </a:bodyPr>
          <a:lstStyle/>
          <a:p>
            <a:pPr algn="ctr"/>
            <a:r>
              <a:rPr sz="1600" b="1">
                <a:solidFill>
                  <a:srgbClr val="FFFFFF"/>
                </a:solidFill>
              </a:rPr>
              <a:t>Monte Carlo VaR</a:t>
            </a:r>
          </a:p>
        </p:txBody>
      </p:sp>
      <p:sp>
        <p:nvSpPr>
          <p:cNvPr id="14" name="TextBox 13"/>
          <p:cNvSpPr txBox="1"/>
          <p:nvPr/>
        </p:nvSpPr>
        <p:spPr>
          <a:xfrm>
            <a:off x="7863840" y="2011680"/>
            <a:ext cx="3383279" cy="3931920"/>
          </a:xfrm>
          <a:prstGeom prst="rect">
            <a:avLst/>
          </a:prstGeom>
          <a:noFill/>
        </p:spPr>
        <p:txBody>
          <a:bodyPr wrap="square">
            <a:spAutoFit/>
          </a:bodyPr>
          <a:lstStyle/>
          <a:p>
            <a:pPr>
              <a:spcAft>
                <a:spcPts val="600"/>
              </a:spcAft>
            </a:pPr>
            <a:r>
              <a:rPr sz="1400">
                <a:solidFill>
                  <a:srgbClr val="1A1A1A"/>
                </a:solidFill>
              </a:rPr>
              <a:t>▸  Simulates 10,000 random return scenarios</a:t>
            </a:r>
          </a:p>
          <a:p>
            <a:pPr>
              <a:spcAft>
                <a:spcPts val="600"/>
              </a:spcAft>
            </a:pPr>
            <a:r>
              <a:rPr sz="1400">
                <a:solidFill>
                  <a:srgbClr val="1A1A1A"/>
                </a:solidFill>
              </a:rPr>
              <a:t>▸  Based on historical mean &amp; volatility</a:t>
            </a:r>
          </a:p>
          <a:p>
            <a:pPr>
              <a:spcAft>
                <a:spcPts val="600"/>
              </a:spcAft>
            </a:pPr>
            <a:r>
              <a:rPr sz="1400">
                <a:solidFill>
                  <a:srgbClr val="1A1A1A"/>
                </a:solidFill>
              </a:rPr>
              <a:t>▸  Takes the 5th percentile of simulated returns</a:t>
            </a:r>
          </a:p>
          <a:p>
            <a:pPr>
              <a:spcAft>
                <a:spcPts val="600"/>
              </a:spcAft>
            </a:pPr>
            <a:r>
              <a:rPr sz="1400">
                <a:solidFill>
                  <a:srgbClr val="1A1A1A"/>
                </a:solidFill>
              </a:rPr>
              <a:t>▸  Most flexible — computationally intensive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731520"/>
          </a:xfrm>
          <a:prstGeom prst="rect">
            <a:avLst/>
          </a:prstGeom>
          <a:noFill/>
        </p:spPr>
        <p:txBody>
          <a:bodyPr wrap="square">
            <a:spAutoFit/>
          </a:bodyPr>
          <a:lstStyle/>
          <a:p>
            <a:pPr algn="l"/>
            <a:r>
              <a:rPr sz="2800" b="1">
                <a:solidFill>
                  <a:srgbClr val="FFFFFF"/>
                </a:solidFill>
              </a:rPr>
              <a:t>Portfolio Returns Over Time</a:t>
            </a:r>
          </a:p>
        </p:txBody>
      </p:sp>
      <p:sp>
        <p:nvSpPr>
          <p:cNvPr id="4" name="Rectangle 3"/>
          <p:cNvSpPr/>
          <p:nvPr/>
        </p:nvSpPr>
        <p:spPr>
          <a:xfrm>
            <a:off x="0" y="6492240"/>
            <a:ext cx="12188952" cy="365760"/>
          </a:xfrm>
          <a:prstGeom prst="rect">
            <a:avLst/>
          </a:prstGeom>
          <a:solidFill>
            <a:srgbClr val="1F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10528"/>
            <a:ext cx="11612880" cy="274320"/>
          </a:xfrm>
          <a:prstGeom prst="rect">
            <a:avLst/>
          </a:prstGeom>
          <a:noFill/>
        </p:spPr>
        <p:txBody>
          <a:bodyPr wrap="square">
            <a:spAutoFit/>
          </a:bodyPr>
          <a:lstStyle/>
          <a:p>
            <a:pPr algn="ctr"/>
            <a:r>
              <a:rPr sz="1000" b="0">
                <a:solidFill>
                  <a:srgbClr val="FFFFFF"/>
                </a:solidFill>
              </a:rPr>
              <a:t>Master 1 Finance | IAE Metz | 2026</a:t>
            </a:r>
          </a:p>
        </p:txBody>
      </p:sp>
      <p:pic>
        <p:nvPicPr>
          <p:cNvPr id="6" name="Picture 5" descr="chart_02_portfolio_returns.png"/>
          <p:cNvPicPr>
            <a:picLocks noChangeAspect="1"/>
          </p:cNvPicPr>
          <p:nvPr/>
        </p:nvPicPr>
        <p:blipFill>
          <a:blip r:embed="rId2"/>
          <a:stretch>
            <a:fillRect/>
          </a:stretch>
        </p:blipFill>
        <p:spPr>
          <a:xfrm>
            <a:off x="365760" y="1188720"/>
            <a:ext cx="7315200" cy="4114800"/>
          </a:xfrm>
          <a:prstGeom prst="rect">
            <a:avLst/>
          </a:prstGeom>
        </p:spPr>
      </p:pic>
      <p:sp>
        <p:nvSpPr>
          <p:cNvPr id="7" name="TextBox 6"/>
          <p:cNvSpPr txBox="1"/>
          <p:nvPr/>
        </p:nvSpPr>
        <p:spPr>
          <a:xfrm>
            <a:off x="7955279" y="1463040"/>
            <a:ext cx="3931920" cy="4114800"/>
          </a:xfrm>
          <a:prstGeom prst="rect">
            <a:avLst/>
          </a:prstGeom>
          <a:noFill/>
        </p:spPr>
        <p:txBody>
          <a:bodyPr wrap="square">
            <a:spAutoFit/>
          </a:bodyPr>
          <a:lstStyle/>
          <a:p>
            <a:pPr>
              <a:spcAft>
                <a:spcPts val="600"/>
              </a:spcAft>
            </a:pPr>
            <a:r>
              <a:rPr sz="1500">
                <a:solidFill>
                  <a:srgbClr val="1A1A1A"/>
                </a:solidFill>
              </a:rPr>
              <a:t>▸  Daily returns range roughly from −5% to +5%</a:t>
            </a:r>
          </a:p>
          <a:p>
            <a:pPr>
              <a:spcAft>
                <a:spcPts val="600"/>
              </a:spcAft>
            </a:pPr>
            <a:r>
              <a:rPr sz="1500">
                <a:solidFill>
                  <a:srgbClr val="1A1A1A"/>
                </a:solidFill>
              </a:rPr>
              <a:t>▸  Returns cluster around zero — typical for equities</a:t>
            </a:r>
          </a:p>
          <a:p>
            <a:pPr>
              <a:spcAft>
                <a:spcPts val="600"/>
              </a:spcAft>
            </a:pPr>
            <a:r>
              <a:rPr sz="1500">
                <a:solidFill>
                  <a:srgbClr val="1A1A1A"/>
                </a:solidFill>
              </a:rPr>
              <a:t>▸  Volatility spikes visible in 2020 (COVID-19 crash)</a:t>
            </a:r>
          </a:p>
          <a:p>
            <a:pPr>
              <a:spcAft>
                <a:spcPts val="600"/>
              </a:spcAft>
            </a:pPr>
            <a:r>
              <a:rPr sz="1500">
                <a:solidFill>
                  <a:srgbClr val="1A1A1A"/>
                </a:solidFill>
              </a:rPr>
              <a:t>▸  Portfolio appears relatively stable post-2021</a:t>
            </a:r>
          </a:p>
        </p:txBody>
      </p:sp>
      <p:sp>
        <p:nvSpPr>
          <p:cNvPr id="8" name="TextBox 7"/>
          <p:cNvSpPr txBox="1"/>
          <p:nvPr/>
        </p:nvSpPr>
        <p:spPr>
          <a:xfrm>
            <a:off x="365760" y="5349240"/>
            <a:ext cx="7315200" cy="320040"/>
          </a:xfrm>
          <a:prstGeom prst="rect">
            <a:avLst/>
          </a:prstGeom>
          <a:noFill/>
        </p:spPr>
        <p:txBody>
          <a:bodyPr wrap="square">
            <a:spAutoFit/>
          </a:bodyPr>
          <a:lstStyle/>
          <a:p>
            <a:pPr algn="ctr"/>
            <a:r>
              <a:rPr sz="1000" b="0">
                <a:solidFill>
                  <a:srgbClr val="707070"/>
                </a:solidFill>
              </a:rPr>
              <a:t>Fig. 2 — Daily portfolio returns (2019–2024)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731520"/>
          </a:xfrm>
          <a:prstGeom prst="rect">
            <a:avLst/>
          </a:prstGeom>
          <a:noFill/>
        </p:spPr>
        <p:txBody>
          <a:bodyPr wrap="square">
            <a:spAutoFit/>
          </a:bodyPr>
          <a:lstStyle/>
          <a:p>
            <a:pPr algn="l"/>
            <a:r>
              <a:rPr sz="2800" b="1">
                <a:solidFill>
                  <a:srgbClr val="FFFFFF"/>
                </a:solidFill>
              </a:rPr>
              <a:t>Return Distribution &amp; VaR Threshold</a:t>
            </a:r>
          </a:p>
        </p:txBody>
      </p:sp>
      <p:sp>
        <p:nvSpPr>
          <p:cNvPr id="4" name="Rectangle 3"/>
          <p:cNvSpPr/>
          <p:nvPr/>
        </p:nvSpPr>
        <p:spPr>
          <a:xfrm>
            <a:off x="0" y="6492240"/>
            <a:ext cx="12188952" cy="365760"/>
          </a:xfrm>
          <a:prstGeom prst="rect">
            <a:avLst/>
          </a:prstGeom>
          <a:solidFill>
            <a:srgbClr val="1F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10528"/>
            <a:ext cx="11612880" cy="274320"/>
          </a:xfrm>
          <a:prstGeom prst="rect">
            <a:avLst/>
          </a:prstGeom>
          <a:noFill/>
        </p:spPr>
        <p:txBody>
          <a:bodyPr wrap="square">
            <a:spAutoFit/>
          </a:bodyPr>
          <a:lstStyle/>
          <a:p>
            <a:pPr algn="ctr"/>
            <a:r>
              <a:rPr sz="1000" b="0">
                <a:solidFill>
                  <a:srgbClr val="FFFFFF"/>
                </a:solidFill>
              </a:rPr>
              <a:t>Master 1 Finance | IAE Metz | 2026</a:t>
            </a:r>
          </a:p>
        </p:txBody>
      </p:sp>
      <p:pic>
        <p:nvPicPr>
          <p:cNvPr id="6" name="Picture 5" descr="chart_03_histogram_var.png"/>
          <p:cNvPicPr>
            <a:picLocks noChangeAspect="1"/>
          </p:cNvPicPr>
          <p:nvPr/>
        </p:nvPicPr>
        <p:blipFill>
          <a:blip r:embed="rId2"/>
          <a:stretch>
            <a:fillRect/>
          </a:stretch>
        </p:blipFill>
        <p:spPr>
          <a:xfrm>
            <a:off x="365760" y="1188720"/>
            <a:ext cx="7315200" cy="4114800"/>
          </a:xfrm>
          <a:prstGeom prst="rect">
            <a:avLst/>
          </a:prstGeom>
        </p:spPr>
      </p:pic>
      <p:sp>
        <p:nvSpPr>
          <p:cNvPr id="7" name="TextBox 6"/>
          <p:cNvSpPr txBox="1"/>
          <p:nvPr/>
        </p:nvSpPr>
        <p:spPr>
          <a:xfrm>
            <a:off x="7955279" y="1463040"/>
            <a:ext cx="3931920" cy="4114800"/>
          </a:xfrm>
          <a:prstGeom prst="rect">
            <a:avLst/>
          </a:prstGeom>
          <a:noFill/>
        </p:spPr>
        <p:txBody>
          <a:bodyPr wrap="square">
            <a:spAutoFit/>
          </a:bodyPr>
          <a:lstStyle/>
          <a:p>
            <a:pPr>
              <a:spcAft>
                <a:spcPts val="600"/>
              </a:spcAft>
            </a:pPr>
            <a:r>
              <a:rPr sz="1500">
                <a:solidFill>
                  <a:srgbClr val="1A1A1A"/>
                </a:solidFill>
              </a:rPr>
              <a:t>▸  Histogram of all daily portfolio returns</a:t>
            </a:r>
          </a:p>
          <a:p>
            <a:pPr>
              <a:spcAft>
                <a:spcPts val="600"/>
              </a:spcAft>
            </a:pPr>
            <a:r>
              <a:rPr sz="1500">
                <a:solidFill>
                  <a:srgbClr val="1A1A1A"/>
                </a:solidFill>
              </a:rPr>
              <a:t>▸  Red dashed line = Historical VaR at −1.65%</a:t>
            </a:r>
          </a:p>
          <a:p>
            <a:pPr>
              <a:spcAft>
                <a:spcPts val="600"/>
              </a:spcAft>
            </a:pPr>
            <a:r>
              <a:rPr sz="1500">
                <a:solidFill>
                  <a:srgbClr val="1A1A1A"/>
                </a:solidFill>
              </a:rPr>
              <a:t>▸  5% of returns fall to the left of this line</a:t>
            </a:r>
          </a:p>
          <a:p>
            <a:pPr>
              <a:spcAft>
                <a:spcPts val="600"/>
              </a:spcAft>
            </a:pPr>
            <a:r>
              <a:rPr sz="1500">
                <a:solidFill>
                  <a:srgbClr val="1A1A1A"/>
                </a:solidFill>
              </a:rPr>
              <a:t>▸  The distribution has a slight left tail (negative skew)</a:t>
            </a:r>
          </a:p>
          <a:p>
            <a:pPr>
              <a:spcAft>
                <a:spcPts val="600"/>
              </a:spcAft>
            </a:pPr>
            <a:r>
              <a:rPr sz="1500">
                <a:solidFill>
                  <a:srgbClr val="1A1A1A"/>
                </a:solidFill>
              </a:rPr>
              <a:t>▸  Not perfectly normal — justifies using multiple methods</a:t>
            </a:r>
          </a:p>
        </p:txBody>
      </p:sp>
      <p:sp>
        <p:nvSpPr>
          <p:cNvPr id="8" name="TextBox 7"/>
          <p:cNvSpPr txBox="1"/>
          <p:nvPr/>
        </p:nvSpPr>
        <p:spPr>
          <a:xfrm>
            <a:off x="365760" y="5349240"/>
            <a:ext cx="7315200" cy="320040"/>
          </a:xfrm>
          <a:prstGeom prst="rect">
            <a:avLst/>
          </a:prstGeom>
          <a:noFill/>
        </p:spPr>
        <p:txBody>
          <a:bodyPr wrap="square">
            <a:spAutoFit/>
          </a:bodyPr>
          <a:lstStyle/>
          <a:p>
            <a:pPr algn="ctr"/>
            <a:r>
              <a:rPr sz="1000" b="0">
                <a:solidFill>
                  <a:srgbClr val="707070"/>
                </a:solidFill>
              </a:rPr>
              <a:t>Fig. 3 — Return histogram with Historical VaR threshold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731520"/>
          </a:xfrm>
          <a:prstGeom prst="rect">
            <a:avLst/>
          </a:prstGeom>
          <a:noFill/>
        </p:spPr>
        <p:txBody>
          <a:bodyPr wrap="square">
            <a:spAutoFit/>
          </a:bodyPr>
          <a:lstStyle/>
          <a:p>
            <a:pPr algn="l"/>
            <a:r>
              <a:rPr sz="2800" b="1">
                <a:solidFill>
                  <a:srgbClr val="FFFFFF"/>
                </a:solidFill>
              </a:rPr>
              <a:t>VaR Results — Comparison of Three Methods</a:t>
            </a:r>
          </a:p>
        </p:txBody>
      </p:sp>
      <p:sp>
        <p:nvSpPr>
          <p:cNvPr id="4" name="Rectangle 3"/>
          <p:cNvSpPr/>
          <p:nvPr/>
        </p:nvSpPr>
        <p:spPr>
          <a:xfrm>
            <a:off x="0" y="6492240"/>
            <a:ext cx="12188952" cy="365760"/>
          </a:xfrm>
          <a:prstGeom prst="rect">
            <a:avLst/>
          </a:prstGeom>
          <a:solidFill>
            <a:srgbClr val="1F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10528"/>
            <a:ext cx="11612880" cy="274320"/>
          </a:xfrm>
          <a:prstGeom prst="rect">
            <a:avLst/>
          </a:prstGeom>
          <a:noFill/>
        </p:spPr>
        <p:txBody>
          <a:bodyPr wrap="square">
            <a:spAutoFit/>
          </a:bodyPr>
          <a:lstStyle/>
          <a:p>
            <a:pPr algn="ctr"/>
            <a:r>
              <a:rPr sz="1000" b="0">
                <a:solidFill>
                  <a:srgbClr val="FFFFFF"/>
                </a:solidFill>
              </a:rPr>
              <a:t>Master 1 Finance | IAE Metz | 2026</a:t>
            </a:r>
          </a:p>
        </p:txBody>
      </p:sp>
      <p:sp>
        <p:nvSpPr>
          <p:cNvPr id="6" name="Rectangle 5"/>
          <p:cNvSpPr/>
          <p:nvPr/>
        </p:nvSpPr>
        <p:spPr>
          <a:xfrm>
            <a:off x="457200" y="1280160"/>
            <a:ext cx="3154680" cy="548640"/>
          </a:xfrm>
          <a:prstGeom prst="rect">
            <a:avLst/>
          </a:prstGeom>
          <a:solidFill>
            <a:srgbClr val="1F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71600"/>
            <a:ext cx="2971800" cy="457200"/>
          </a:xfrm>
          <a:prstGeom prst="rect">
            <a:avLst/>
          </a:prstGeom>
          <a:noFill/>
        </p:spPr>
        <p:txBody>
          <a:bodyPr wrap="square">
            <a:spAutoFit/>
          </a:bodyPr>
          <a:lstStyle/>
          <a:p>
            <a:pPr algn="ctr"/>
            <a:r>
              <a:rPr sz="1500" b="1">
                <a:solidFill>
                  <a:srgbClr val="FFFFFF"/>
                </a:solidFill>
              </a:rPr>
              <a:t>Method</a:t>
            </a:r>
          </a:p>
        </p:txBody>
      </p:sp>
      <p:sp>
        <p:nvSpPr>
          <p:cNvPr id="8" name="Rectangle 7"/>
          <p:cNvSpPr/>
          <p:nvPr/>
        </p:nvSpPr>
        <p:spPr>
          <a:xfrm>
            <a:off x="3657600" y="1280160"/>
            <a:ext cx="2697480" cy="548640"/>
          </a:xfrm>
          <a:prstGeom prst="rect">
            <a:avLst/>
          </a:prstGeom>
          <a:solidFill>
            <a:srgbClr val="1F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49039" y="1371600"/>
            <a:ext cx="2514600" cy="457200"/>
          </a:xfrm>
          <a:prstGeom prst="rect">
            <a:avLst/>
          </a:prstGeom>
          <a:noFill/>
        </p:spPr>
        <p:txBody>
          <a:bodyPr wrap="square">
            <a:spAutoFit/>
          </a:bodyPr>
          <a:lstStyle/>
          <a:p>
            <a:pPr algn="ctr"/>
            <a:r>
              <a:rPr sz="1500" b="1">
                <a:solidFill>
                  <a:srgbClr val="FFFFFF"/>
                </a:solidFill>
              </a:rPr>
              <a:t>VaR (1-day, 95%)</a:t>
            </a:r>
          </a:p>
        </p:txBody>
      </p:sp>
      <p:sp>
        <p:nvSpPr>
          <p:cNvPr id="10" name="Rectangle 9"/>
          <p:cNvSpPr/>
          <p:nvPr/>
        </p:nvSpPr>
        <p:spPr>
          <a:xfrm>
            <a:off x="6400800" y="1280160"/>
            <a:ext cx="2697480" cy="548640"/>
          </a:xfrm>
          <a:prstGeom prst="rect">
            <a:avLst/>
          </a:prstGeom>
          <a:solidFill>
            <a:srgbClr val="1F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371600"/>
            <a:ext cx="2514600" cy="457200"/>
          </a:xfrm>
          <a:prstGeom prst="rect">
            <a:avLst/>
          </a:prstGeom>
          <a:noFill/>
        </p:spPr>
        <p:txBody>
          <a:bodyPr wrap="square">
            <a:spAutoFit/>
          </a:bodyPr>
          <a:lstStyle/>
          <a:p>
            <a:pPr algn="ctr"/>
            <a:r>
              <a:rPr sz="1500" b="1">
                <a:solidFill>
                  <a:srgbClr val="FFFFFF"/>
                </a:solidFill>
              </a:rPr>
              <a:t>Interpretation</a:t>
            </a:r>
          </a:p>
        </p:txBody>
      </p:sp>
      <p:sp>
        <p:nvSpPr>
          <p:cNvPr id="12" name="Rectangle 11"/>
          <p:cNvSpPr/>
          <p:nvPr/>
        </p:nvSpPr>
        <p:spPr>
          <a:xfrm>
            <a:off x="457200" y="1828800"/>
            <a:ext cx="3154680" cy="54864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920240"/>
            <a:ext cx="2971800" cy="457200"/>
          </a:xfrm>
          <a:prstGeom prst="rect">
            <a:avLst/>
          </a:prstGeom>
          <a:noFill/>
        </p:spPr>
        <p:txBody>
          <a:bodyPr wrap="square">
            <a:spAutoFit/>
          </a:bodyPr>
          <a:lstStyle/>
          <a:p>
            <a:pPr algn="ctr"/>
            <a:r>
              <a:rPr sz="1400" b="0">
                <a:solidFill>
                  <a:srgbClr val="1A1A1A"/>
                </a:solidFill>
              </a:rPr>
              <a:t>Historical</a:t>
            </a:r>
          </a:p>
        </p:txBody>
      </p:sp>
      <p:sp>
        <p:nvSpPr>
          <p:cNvPr id="14" name="Rectangle 13"/>
          <p:cNvSpPr/>
          <p:nvPr/>
        </p:nvSpPr>
        <p:spPr>
          <a:xfrm>
            <a:off x="3657600" y="1828800"/>
            <a:ext cx="2697480" cy="54864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39" y="1920240"/>
            <a:ext cx="2514600" cy="457200"/>
          </a:xfrm>
          <a:prstGeom prst="rect">
            <a:avLst/>
          </a:prstGeom>
          <a:noFill/>
        </p:spPr>
        <p:txBody>
          <a:bodyPr wrap="square">
            <a:spAutoFit/>
          </a:bodyPr>
          <a:lstStyle/>
          <a:p>
            <a:pPr algn="ctr"/>
            <a:r>
              <a:rPr sz="1400" b="0">
                <a:solidFill>
                  <a:srgbClr val="1A1A1A"/>
                </a:solidFill>
              </a:rPr>
              <a:t>−1.65%</a:t>
            </a:r>
          </a:p>
        </p:txBody>
      </p:sp>
      <p:sp>
        <p:nvSpPr>
          <p:cNvPr id="16" name="Rectangle 15"/>
          <p:cNvSpPr/>
          <p:nvPr/>
        </p:nvSpPr>
        <p:spPr>
          <a:xfrm>
            <a:off x="6400800" y="1828800"/>
            <a:ext cx="2697480" cy="54864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1920240"/>
            <a:ext cx="2514600" cy="457200"/>
          </a:xfrm>
          <a:prstGeom prst="rect">
            <a:avLst/>
          </a:prstGeom>
          <a:noFill/>
        </p:spPr>
        <p:txBody>
          <a:bodyPr wrap="square">
            <a:spAutoFit/>
          </a:bodyPr>
          <a:lstStyle/>
          <a:p>
            <a:pPr algn="ctr"/>
            <a:r>
              <a:rPr sz="1400" b="0">
                <a:solidFill>
                  <a:srgbClr val="1A1A1A"/>
                </a:solidFill>
              </a:rPr>
              <a:t>Based on actual past returns</a:t>
            </a:r>
          </a:p>
        </p:txBody>
      </p:sp>
      <p:sp>
        <p:nvSpPr>
          <p:cNvPr id="18" name="Rectangle 17"/>
          <p:cNvSpPr/>
          <p:nvPr/>
        </p:nvSpPr>
        <p:spPr>
          <a:xfrm>
            <a:off x="457200" y="2377439"/>
            <a:ext cx="315468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468879"/>
            <a:ext cx="2971800" cy="457200"/>
          </a:xfrm>
          <a:prstGeom prst="rect">
            <a:avLst/>
          </a:prstGeom>
          <a:noFill/>
        </p:spPr>
        <p:txBody>
          <a:bodyPr wrap="square">
            <a:spAutoFit/>
          </a:bodyPr>
          <a:lstStyle/>
          <a:p>
            <a:pPr algn="ctr"/>
            <a:r>
              <a:rPr sz="1400" b="0">
                <a:solidFill>
                  <a:srgbClr val="1A1A1A"/>
                </a:solidFill>
              </a:rPr>
              <a:t>Parametric</a:t>
            </a:r>
          </a:p>
        </p:txBody>
      </p:sp>
      <p:sp>
        <p:nvSpPr>
          <p:cNvPr id="20" name="Rectangle 19"/>
          <p:cNvSpPr/>
          <p:nvPr/>
        </p:nvSpPr>
        <p:spPr>
          <a:xfrm>
            <a:off x="3657600" y="2377439"/>
            <a:ext cx="269748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49039" y="2468879"/>
            <a:ext cx="2514600" cy="457200"/>
          </a:xfrm>
          <a:prstGeom prst="rect">
            <a:avLst/>
          </a:prstGeom>
          <a:noFill/>
        </p:spPr>
        <p:txBody>
          <a:bodyPr wrap="square">
            <a:spAutoFit/>
          </a:bodyPr>
          <a:lstStyle/>
          <a:p>
            <a:pPr algn="ctr"/>
            <a:r>
              <a:rPr sz="1400" b="0">
                <a:solidFill>
                  <a:srgbClr val="1A1A1A"/>
                </a:solidFill>
              </a:rPr>
              <a:t>−1.87%</a:t>
            </a:r>
          </a:p>
        </p:txBody>
      </p:sp>
      <p:sp>
        <p:nvSpPr>
          <p:cNvPr id="22" name="Rectangle 21"/>
          <p:cNvSpPr/>
          <p:nvPr/>
        </p:nvSpPr>
        <p:spPr>
          <a:xfrm>
            <a:off x="6400800" y="2377439"/>
            <a:ext cx="269748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2468879"/>
            <a:ext cx="2514600" cy="457200"/>
          </a:xfrm>
          <a:prstGeom prst="rect">
            <a:avLst/>
          </a:prstGeom>
          <a:noFill/>
        </p:spPr>
        <p:txBody>
          <a:bodyPr wrap="square">
            <a:spAutoFit/>
          </a:bodyPr>
          <a:lstStyle/>
          <a:p>
            <a:pPr algn="ctr"/>
            <a:r>
              <a:rPr sz="1400" b="0">
                <a:solidFill>
                  <a:srgbClr val="1A1A1A"/>
                </a:solidFill>
              </a:rPr>
              <a:t>Assumes Normal distribution</a:t>
            </a:r>
          </a:p>
        </p:txBody>
      </p:sp>
      <p:sp>
        <p:nvSpPr>
          <p:cNvPr id="24" name="Rectangle 23"/>
          <p:cNvSpPr/>
          <p:nvPr/>
        </p:nvSpPr>
        <p:spPr>
          <a:xfrm>
            <a:off x="457200" y="2926079"/>
            <a:ext cx="3154680" cy="54864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3017520"/>
            <a:ext cx="2971800" cy="457200"/>
          </a:xfrm>
          <a:prstGeom prst="rect">
            <a:avLst/>
          </a:prstGeom>
          <a:noFill/>
        </p:spPr>
        <p:txBody>
          <a:bodyPr wrap="square">
            <a:spAutoFit/>
          </a:bodyPr>
          <a:lstStyle/>
          <a:p>
            <a:pPr algn="ctr"/>
            <a:r>
              <a:rPr sz="1400" b="0">
                <a:solidFill>
                  <a:srgbClr val="1A1A1A"/>
                </a:solidFill>
              </a:rPr>
              <a:t>Monte Carlo</a:t>
            </a:r>
          </a:p>
        </p:txBody>
      </p:sp>
      <p:sp>
        <p:nvSpPr>
          <p:cNvPr id="26" name="Rectangle 25"/>
          <p:cNvSpPr/>
          <p:nvPr/>
        </p:nvSpPr>
        <p:spPr>
          <a:xfrm>
            <a:off x="3657600" y="2926079"/>
            <a:ext cx="2697480" cy="54864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49039" y="3017520"/>
            <a:ext cx="2514600" cy="457200"/>
          </a:xfrm>
          <a:prstGeom prst="rect">
            <a:avLst/>
          </a:prstGeom>
          <a:noFill/>
        </p:spPr>
        <p:txBody>
          <a:bodyPr wrap="square">
            <a:spAutoFit/>
          </a:bodyPr>
          <a:lstStyle/>
          <a:p>
            <a:pPr algn="ctr"/>
            <a:r>
              <a:rPr sz="1400" b="0">
                <a:solidFill>
                  <a:srgbClr val="1A1A1A"/>
                </a:solidFill>
              </a:rPr>
              <a:t>−1.86%</a:t>
            </a:r>
          </a:p>
        </p:txBody>
      </p:sp>
      <p:sp>
        <p:nvSpPr>
          <p:cNvPr id="28" name="Rectangle 27"/>
          <p:cNvSpPr/>
          <p:nvPr/>
        </p:nvSpPr>
        <p:spPr>
          <a:xfrm>
            <a:off x="6400800" y="2926079"/>
            <a:ext cx="2697480" cy="548640"/>
          </a:xfrm>
          <a:prstGeom prst="rect">
            <a:avLst/>
          </a:prstGeom>
          <a:solidFill>
            <a:srgbClr val="DEEB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3017520"/>
            <a:ext cx="2514600" cy="457200"/>
          </a:xfrm>
          <a:prstGeom prst="rect">
            <a:avLst/>
          </a:prstGeom>
          <a:noFill/>
        </p:spPr>
        <p:txBody>
          <a:bodyPr wrap="square">
            <a:spAutoFit/>
          </a:bodyPr>
          <a:lstStyle/>
          <a:p>
            <a:pPr algn="ctr"/>
            <a:r>
              <a:rPr sz="1400" b="0">
                <a:solidFill>
                  <a:srgbClr val="1A1A1A"/>
                </a:solidFill>
              </a:rPr>
              <a:t>10,000 simulated scenarios</a:t>
            </a:r>
          </a:p>
        </p:txBody>
      </p:sp>
      <p:sp>
        <p:nvSpPr>
          <p:cNvPr id="30" name="Rectangle 29"/>
          <p:cNvSpPr/>
          <p:nvPr/>
        </p:nvSpPr>
        <p:spPr>
          <a:xfrm>
            <a:off x="457200" y="3611879"/>
            <a:ext cx="8595360" cy="640080"/>
          </a:xfrm>
          <a:prstGeom prst="rect">
            <a:avLst/>
          </a:prstGeom>
          <a:solidFill>
            <a:srgbClr val="FFF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3657600"/>
            <a:ext cx="8412480" cy="594360"/>
          </a:xfrm>
          <a:prstGeom prst="rect">
            <a:avLst/>
          </a:prstGeom>
          <a:noFill/>
        </p:spPr>
        <p:txBody>
          <a:bodyPr wrap="square">
            <a:spAutoFit/>
          </a:bodyPr>
          <a:lstStyle/>
          <a:p>
            <a:pPr algn="l"/>
            <a:r>
              <a:rPr sz="1400" b="0">
                <a:solidFill>
                  <a:srgbClr val="7F6000"/>
                </a:solidFill>
              </a:rPr>
              <a:t>Key insight:  All three methods converge around −1.65% to −1.87%, confirming the robustness of the risk estimate.</a:t>
            </a:r>
          </a:p>
        </p:txBody>
      </p:sp>
      <p:pic>
        <p:nvPicPr>
          <p:cNvPr id="32" name="Picture 31" descr="chart_04_var_comparison.png"/>
          <p:cNvPicPr>
            <a:picLocks noChangeAspect="1"/>
          </p:cNvPicPr>
          <p:nvPr/>
        </p:nvPicPr>
        <p:blipFill>
          <a:blip r:embed="rId2"/>
          <a:stretch>
            <a:fillRect/>
          </a:stretch>
        </p:blipFill>
        <p:spPr>
          <a:xfrm>
            <a:off x="8869680" y="1188720"/>
            <a:ext cx="3108960" cy="4114800"/>
          </a:xfrm>
          <a:prstGeom prst="rect">
            <a:avLst/>
          </a:prstGeom>
        </p:spPr>
      </p:pic>
      <p:sp>
        <p:nvSpPr>
          <p:cNvPr id="33" name="TextBox 32"/>
          <p:cNvSpPr txBox="1"/>
          <p:nvPr/>
        </p:nvSpPr>
        <p:spPr>
          <a:xfrm>
            <a:off x="8869680" y="5349240"/>
            <a:ext cx="3108960" cy="320040"/>
          </a:xfrm>
          <a:prstGeom prst="rect">
            <a:avLst/>
          </a:prstGeom>
          <a:noFill/>
        </p:spPr>
        <p:txBody>
          <a:bodyPr wrap="square">
            <a:spAutoFit/>
          </a:bodyPr>
          <a:lstStyle/>
          <a:p>
            <a:pPr algn="ctr"/>
            <a:r>
              <a:rPr sz="1000" b="0">
                <a:solidFill>
                  <a:srgbClr val="707070"/>
                </a:solidFill>
              </a:rPr>
              <a:t>Fig. 4 — VaR comparison chart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2F2"/>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1F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1430000" cy="731520"/>
          </a:xfrm>
          <a:prstGeom prst="rect">
            <a:avLst/>
          </a:prstGeom>
          <a:noFill/>
        </p:spPr>
        <p:txBody>
          <a:bodyPr wrap="square">
            <a:spAutoFit/>
          </a:bodyPr>
          <a:lstStyle/>
          <a:p>
            <a:pPr algn="l"/>
            <a:r>
              <a:rPr sz="2800" b="1">
                <a:solidFill>
                  <a:srgbClr val="FFFFFF"/>
                </a:solidFill>
              </a:rPr>
              <a:t>Conclusion &amp; Limitations</a:t>
            </a:r>
          </a:p>
        </p:txBody>
      </p:sp>
      <p:sp>
        <p:nvSpPr>
          <p:cNvPr id="4" name="Rectangle 3"/>
          <p:cNvSpPr/>
          <p:nvPr/>
        </p:nvSpPr>
        <p:spPr>
          <a:xfrm>
            <a:off x="0" y="6492240"/>
            <a:ext cx="12188952" cy="365760"/>
          </a:xfrm>
          <a:prstGeom prst="rect">
            <a:avLst/>
          </a:prstGeom>
          <a:solidFill>
            <a:srgbClr val="1F3B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510528"/>
            <a:ext cx="11612880" cy="274320"/>
          </a:xfrm>
          <a:prstGeom prst="rect">
            <a:avLst/>
          </a:prstGeom>
          <a:noFill/>
        </p:spPr>
        <p:txBody>
          <a:bodyPr wrap="square">
            <a:spAutoFit/>
          </a:bodyPr>
          <a:lstStyle/>
          <a:p>
            <a:pPr algn="ctr"/>
            <a:r>
              <a:rPr sz="1000" b="0">
                <a:solidFill>
                  <a:srgbClr val="FFFFFF"/>
                </a:solidFill>
              </a:rPr>
              <a:t>Master 1 Finance | IAE Metz | 2026</a:t>
            </a:r>
          </a:p>
        </p:txBody>
      </p:sp>
      <p:sp>
        <p:nvSpPr>
          <p:cNvPr id="6" name="TextBox 5"/>
          <p:cNvSpPr txBox="1"/>
          <p:nvPr/>
        </p:nvSpPr>
        <p:spPr>
          <a:xfrm>
            <a:off x="365760" y="1234440"/>
            <a:ext cx="5303520" cy="411480"/>
          </a:xfrm>
          <a:prstGeom prst="rect">
            <a:avLst/>
          </a:prstGeom>
          <a:noFill/>
        </p:spPr>
        <p:txBody>
          <a:bodyPr wrap="square">
            <a:spAutoFit/>
          </a:bodyPr>
          <a:lstStyle/>
          <a:p>
            <a:pPr algn="l"/>
            <a:r>
              <a:rPr sz="1800" b="1">
                <a:solidFill>
                  <a:srgbClr val="2E75B6"/>
                </a:solidFill>
              </a:rPr>
              <a:t>Conclusions</a:t>
            </a:r>
          </a:p>
        </p:txBody>
      </p:sp>
      <p:sp>
        <p:nvSpPr>
          <p:cNvPr id="7" name="TextBox 6"/>
          <p:cNvSpPr txBox="1"/>
          <p:nvPr/>
        </p:nvSpPr>
        <p:spPr>
          <a:xfrm>
            <a:off x="365760" y="1691640"/>
            <a:ext cx="5394960" cy="4114800"/>
          </a:xfrm>
          <a:prstGeom prst="rect">
            <a:avLst/>
          </a:prstGeom>
          <a:noFill/>
        </p:spPr>
        <p:txBody>
          <a:bodyPr wrap="square">
            <a:spAutoFit/>
          </a:bodyPr>
          <a:lstStyle/>
          <a:p>
            <a:pPr>
              <a:spcAft>
                <a:spcPts val="600"/>
              </a:spcAft>
            </a:pPr>
            <a:r>
              <a:rPr sz="1500">
                <a:solidFill>
                  <a:srgbClr val="1A1A1A"/>
                </a:solidFill>
              </a:rPr>
              <a:t>▸  Successfully computed 1-day VaR at 95% using Python</a:t>
            </a:r>
          </a:p>
          <a:p>
            <a:pPr>
              <a:spcAft>
                <a:spcPts val="600"/>
              </a:spcAft>
            </a:pPr>
            <a:r>
              <a:rPr sz="1500">
                <a:solidFill>
                  <a:srgbClr val="1A1A1A"/>
                </a:solidFill>
              </a:rPr>
              <a:t>▸  All three methods produce consistent estimates (~1.65–1.87%)</a:t>
            </a:r>
          </a:p>
          <a:p>
            <a:pPr>
              <a:spcAft>
                <a:spcPts val="600"/>
              </a:spcAft>
            </a:pPr>
            <a:r>
              <a:rPr sz="1500">
                <a:solidFill>
                  <a:srgbClr val="1A1A1A"/>
                </a:solidFill>
              </a:rPr>
              <a:t>▸  The portfolio shows moderate daily risk — typical for a diversified equity basket</a:t>
            </a:r>
          </a:p>
          <a:p>
            <a:pPr>
              <a:spcAft>
                <a:spcPts val="600"/>
              </a:spcAft>
            </a:pPr>
            <a:r>
              <a:rPr sz="1500">
                <a:solidFill>
                  <a:srgbClr val="1A1A1A"/>
                </a:solidFill>
              </a:rPr>
              <a:t>▸  Monte Carlo and Parametric agree closely, confirming the near-normality assumption</a:t>
            </a:r>
          </a:p>
          <a:p>
            <a:pPr>
              <a:spcAft>
                <a:spcPts val="600"/>
              </a:spcAft>
            </a:pPr>
            <a:r>
              <a:rPr sz="1500">
                <a:solidFill>
                  <a:srgbClr val="1A1A1A"/>
                </a:solidFill>
              </a:rPr>
              <a:t>▸  Python proved effective for end-to-end financial risk analysis</a:t>
            </a:r>
          </a:p>
        </p:txBody>
      </p:sp>
      <p:sp>
        <p:nvSpPr>
          <p:cNvPr id="8" name="Rectangle 7"/>
          <p:cNvSpPr/>
          <p:nvPr/>
        </p:nvSpPr>
        <p:spPr>
          <a:xfrm>
            <a:off x="5943600" y="1188720"/>
            <a:ext cx="45720"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0" y="1234440"/>
            <a:ext cx="5760720" cy="411480"/>
          </a:xfrm>
          <a:prstGeom prst="rect">
            <a:avLst/>
          </a:prstGeom>
          <a:noFill/>
        </p:spPr>
        <p:txBody>
          <a:bodyPr wrap="square">
            <a:spAutoFit/>
          </a:bodyPr>
          <a:lstStyle/>
          <a:p>
            <a:pPr algn="l"/>
            <a:r>
              <a:rPr sz="1800" b="1">
                <a:solidFill>
                  <a:srgbClr val="C05028"/>
                </a:solidFill>
              </a:rPr>
              <a:t>Limitations &amp; Extensions</a:t>
            </a:r>
          </a:p>
        </p:txBody>
      </p:sp>
      <p:sp>
        <p:nvSpPr>
          <p:cNvPr id="10" name="TextBox 9"/>
          <p:cNvSpPr txBox="1"/>
          <p:nvPr/>
        </p:nvSpPr>
        <p:spPr>
          <a:xfrm>
            <a:off x="6126480" y="1691640"/>
            <a:ext cx="5760720" cy="4114800"/>
          </a:xfrm>
          <a:prstGeom prst="rect">
            <a:avLst/>
          </a:prstGeom>
          <a:noFill/>
        </p:spPr>
        <p:txBody>
          <a:bodyPr wrap="square">
            <a:spAutoFit/>
          </a:bodyPr>
          <a:lstStyle/>
          <a:p>
            <a:pPr>
              <a:spcAft>
                <a:spcPts val="600"/>
              </a:spcAft>
            </a:pPr>
            <a:r>
              <a:rPr sz="1500">
                <a:solidFill>
                  <a:srgbClr val="1A1A1A"/>
                </a:solidFill>
              </a:rPr>
              <a:t>▸  VaR does not tell us how large losses can be beyond the threshold (tail risk)</a:t>
            </a:r>
          </a:p>
          <a:p>
            <a:pPr>
              <a:spcAft>
                <a:spcPts val="600"/>
              </a:spcAft>
            </a:pPr>
            <a:r>
              <a:rPr sz="1500">
                <a:solidFill>
                  <a:srgbClr val="1A1A1A"/>
                </a:solidFill>
              </a:rPr>
              <a:t>▸  Parametric VaR assumes normality — real returns have fat tails</a:t>
            </a:r>
          </a:p>
          <a:p>
            <a:pPr>
              <a:spcAft>
                <a:spcPts val="600"/>
              </a:spcAft>
            </a:pPr>
            <a:r>
              <a:rPr sz="1500">
                <a:solidFill>
                  <a:srgbClr val="1A1A1A"/>
                </a:solidFill>
              </a:rPr>
              <a:t>▸  Historical method is backward-looking and misses future regime changes</a:t>
            </a:r>
          </a:p>
          <a:p>
            <a:pPr>
              <a:spcAft>
                <a:spcPts val="600"/>
              </a:spcAft>
            </a:pPr>
            <a:r>
              <a:rPr sz="1500">
                <a:solidFill>
                  <a:srgbClr val="1A1A1A"/>
                </a:solidFill>
              </a:rPr>
              <a:t>▸  Extension: Expected Shortfall (CVaR) — average of the worst 5% of losses</a:t>
            </a:r>
          </a:p>
          <a:p>
            <a:pPr>
              <a:spcAft>
                <a:spcPts val="600"/>
              </a:spcAft>
            </a:pPr>
            <a:r>
              <a:rPr sz="1500">
                <a:solidFill>
                  <a:srgbClr val="1A1A1A"/>
                </a:solidFill>
              </a:rPr>
              <a:t>▸  Extension: Longer horizons (10-day VaR, e.g. for Basel III compliance)</a:t>
            </a:r>
          </a:p>
          <a:p>
            <a:pPr>
              <a:spcAft>
                <a:spcPts val="600"/>
              </a:spcAft>
            </a:pPr>
            <a:r>
              <a:rPr sz="1500">
                <a:solidFill>
                  <a:srgbClr val="1A1A1A"/>
                </a:solidFill>
              </a:rPr>
              <a:t>▸  Extension: Dynamic volatility models (GARCH) for time-varying risk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